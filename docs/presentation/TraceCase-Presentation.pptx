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2825c538d64067" /><Relationship Type="http://schemas.openxmlformats.org/officeDocument/2006/relationships/extended-properties" Target="/docProps/app.xml" Id="R1ba7067a49554333" /><Relationship Type="http://schemas.openxmlformats.org/officeDocument/2006/relationships/officeDocument" Target="/ppt/presentation.xml" Id="Rb6277be6b5e04d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5c0d1696434d55"/>
  </p:sldMasterIdLst>
  <p:notesMasterIdLst>
    <p:notesMasterId xmlns:r="http://schemas.openxmlformats.org/officeDocument/2006/relationships" r:id="R841d6606a83b4bf4"/>
  </p:notesMasterIdLst>
  <p:sldIdLst>
    <p:sldId xmlns:r="http://schemas.openxmlformats.org/officeDocument/2006/relationships" id="256" r:id="R4c19c32fd12747e3"/>
    <p:sldId xmlns:r="http://schemas.openxmlformats.org/officeDocument/2006/relationships" id="257" r:id="Rd7e5a9a605a2467d"/>
    <p:sldId xmlns:r="http://schemas.openxmlformats.org/officeDocument/2006/relationships" id="258" r:id="R89619a6548c74f1a"/>
    <p:sldId xmlns:r="http://schemas.openxmlformats.org/officeDocument/2006/relationships" id="259" r:id="R7b07968280f04d83"/>
    <p:sldId xmlns:r="http://schemas.openxmlformats.org/officeDocument/2006/relationships" id="260" r:id="Rc21823f0b04f43f3"/>
    <p:sldId xmlns:r="http://schemas.openxmlformats.org/officeDocument/2006/relationships" id="261" r:id="R3a44869016de4417"/>
    <p:sldId xmlns:r="http://schemas.openxmlformats.org/officeDocument/2006/relationships" id="262" r:id="Rdab6e1018fac4b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f8ed5f73ef47c2" /><Relationship Type="http://schemas.openxmlformats.org/officeDocument/2006/relationships/slideMaster" Target="/ppt/slideMasters/slideMaster1.xml" Id="R8e5c0d1696434d55" /><Relationship Type="http://schemas.openxmlformats.org/officeDocument/2006/relationships/notesMaster" Target="/ppt/notesMasters/notesMaster1.xml" Id="R841d6606a83b4bf4" /><Relationship Type="http://schemas.openxmlformats.org/officeDocument/2006/relationships/presProps" Target="/ppt/presProps.xml" Id="R28a757428d9a46fc" /><Relationship Type="http://schemas.openxmlformats.org/officeDocument/2006/relationships/tableStyles" Target="/ppt/tableStyles.xml" Id="Ra236f9a2fd8c430c" /><Relationship Type="http://schemas.openxmlformats.org/officeDocument/2006/relationships/slide" Target="/ppt/slides/slide1.xml" Id="R4c19c32fd12747e3" /><Relationship Type="http://schemas.openxmlformats.org/officeDocument/2006/relationships/slide" Target="/ppt/slides/slide2.xml" Id="Rd7e5a9a605a2467d" /><Relationship Type="http://schemas.openxmlformats.org/officeDocument/2006/relationships/slide" Target="/ppt/slides/slide3.xml" Id="R89619a6548c74f1a" /><Relationship Type="http://schemas.openxmlformats.org/officeDocument/2006/relationships/slide" Target="/ppt/slides/slide4.xml" Id="R7b07968280f04d83" /><Relationship Type="http://schemas.openxmlformats.org/officeDocument/2006/relationships/slide" Target="/ppt/slides/slide5.xml" Id="Rc21823f0b04f43f3" /><Relationship Type="http://schemas.openxmlformats.org/officeDocument/2006/relationships/slide" Target="/ppt/slides/slide6.xml" Id="R3a44869016de4417" /><Relationship Type="http://schemas.openxmlformats.org/officeDocument/2006/relationships/slide" Target="/ppt/slides/slide7.xml" Id="Rdab6e1018fac4b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7e8c17d9c647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25e0f768c3406a" /><Relationship Type="http://schemas.openxmlformats.org/officeDocument/2006/relationships/notesMaster" Target="/ppt/notesMasters/notesMaster1.xml" Id="Ra0ed2b83b54d46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4f2362ab56471a" /><Relationship Type="http://schemas.openxmlformats.org/officeDocument/2006/relationships/notesMaster" Target="/ppt/notesMasters/notesMaster1.xml" Id="Re70e9973815b41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8e63cbd57243c5" /><Relationship Type="http://schemas.openxmlformats.org/officeDocument/2006/relationships/notesMaster" Target="/ppt/notesMasters/notesMaster1.xml" Id="Rdce9120967ea44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213589f62d4198" /><Relationship Type="http://schemas.openxmlformats.org/officeDocument/2006/relationships/notesMaster" Target="/ppt/notesMasters/notesMaster1.xml" Id="Re9cf2aa9b39d49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7c4a45c1e74d63" /><Relationship Type="http://schemas.openxmlformats.org/officeDocument/2006/relationships/notesMaster" Target="/ppt/notesMasters/notesMaster1.xml" Id="Rc9ae588a6bbc42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3efaf02cf341b6" /><Relationship Type="http://schemas.openxmlformats.org/officeDocument/2006/relationships/notesMaster" Target="/ppt/notesMasters/notesMaster1.xml" Id="R9e842c573eac4f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8aac5f208b41db" /><Relationship Type="http://schemas.openxmlformats.org/officeDocument/2006/relationships/notesMaster" Target="/ppt/notesMasters/notesMaster1.xml" Id="Racf231c76d6f40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statement: user-provided Ziro Digital Bug Reproduction Agent assignment screenshots. Project source: https://github.com/sharancode3/TraceCase/blob/main/docs/prd.md</a:t>
            </a:r>
          </a:p>
          <a:p xmlns:a="http://schemas.openxmlformats.org/drawingml/2006/main">
            <a:r>
              <a:t>No productivity percentages or benchmark claims are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repository PRD, workflow specification and src/app/investigations. This slide describes the product workflow and intended acceptance contract, not a claim that every live scenario has passed.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render.yaml, package.json, docs/system-architecture.md, worker/index.ts, src/server/queue and src/server/reporting. Artifact storage uses the configured S3-compatible backend. Deployment health alone does not prove worker dispatch.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docs/workflow-and-state-machine-specification.md and investigation workflow implementation. Confirmation requires qualifying observations from two attempts. A queued request is not an executed browser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PS test cases supplied by user and docs/verification-evidence-and-safety-specification.md. Test statuses must follow actual run evidence. No completed acceptance result is fabricated. Numeric quantity and monetary assertions must use exact values, not broad row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Impact statements are intended benefits, not measured findings. Scaling is a future path, not a proven load-test claim. Current render.yaml specifies WORKER_CONCURRENCY=1. Per-target coordination and isolated fixtures are prerequisites for safe parallel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References: https://github.com/sharancode3/TraceCase</a:t>
            </a:r>
          </a:p>
          <a:p xmlns:a="http://schemas.openxmlformats.org/drawingml/2006/main">
            <a:r>
              <a:t>https://github.com/sharancode3/TraceCase/blob/main/docs/prd.md</a:t>
            </a:r>
          </a:p>
          <a:p xmlns:a="http://schemas.openxmlformats.org/drawingml/2006/main">
            <a:r>
              <a:t>https://github.com/sharancode3/TraceCase/blob/main/docs/system-architecture.md</a:t>
            </a:r>
          </a:p>
          <a:p xmlns:a="http://schemas.openxmlformats.org/drawingml/2006/main">
            <a:r>
              <a:t>https://github.com/sharancode3/TraceCase/blob/main/docs/verification-evidence-and-safety-specification.md</a:t>
            </a:r>
          </a:p>
          <a:p xmlns:a="http://schemas.openxmlformats.org/drawingml/2006/main">
            <a:r>
              <a:t>https://github.com/sharancode3/TraceCase/blob/main/render.yaml</a:t>
            </a:r>
          </a:p>
          <a:p xmlns:a="http://schemas.openxmlformats.org/drawingml/2006/main">
            <a:r>
              <a:t>https://github.com/sharancode3/TraceCase/blob/main/package.json</a:t>
            </a:r>
          </a:p>
          <a:p xmlns:a="http://schemas.openxmlformats.org/drawingml/2006/main">
            <a:r>
              <a:t>Live application: https://tracecase-api-zt6y.onrender.com</a:t>
            </a:r>
          </a:p>
          <a:p xmlns:a="http://schemas.openxmlformats.org/drawingml/2006/main">
            <a:r>
              <a:t>Controlled targets: https://tracecase-target-workbench-zt6y.onrender.com/workbench and https://tracecase-target-cart-zt6y.onrender.com</a:t>
            </a:r>
          </a:p>
          <a:p xmlns:a="http://schemas.openxmlformats.org/drawingml/2006/main">
            <a:r>
              <a:t>Official requirements are from the user-supplied Ziro Digital assignment screenshots.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bd9db65ee44f8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7d0f080966437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da324001e741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146dda41be4b3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cc5b5bd08c411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aa1e5527bf4c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2B4161-F7A8-4D6B-8FD5-308D94F600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5D8C5CD-3165-4153-98F8-79E1D3B45E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654C9DF-4526-41A9-98DB-413F463FC3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CA8A61-D851-40C6-A180-48FB8CE22A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1A7F8D9-B9E9-48B8-A357-82AD3C5776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BDAD1B9-8447-4E84-A2FA-F54866C6CE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AF37B1-3E43-4663-A88E-F98DA83D9B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A12AF49-8C9F-4704-B9D4-E4392FCE6E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64AE7A-44F1-40A9-A8DE-E7FEF4BE2A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113897-9563-48EB-9188-BD87FE62D4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024d48e73d4453" /><Relationship Type="http://schemas.openxmlformats.org/officeDocument/2006/relationships/slideLayout" Target="/ppt/slideLayouts/slideLayout1.xml" Id="Rea291f88c7b44b91" /><Relationship Type="http://schemas.openxmlformats.org/officeDocument/2006/relationships/slideLayout" Target="/ppt/slideLayouts/slideLayout2.xml" Id="R0e2cb17e13a949cd" /><Relationship Type="http://schemas.openxmlformats.org/officeDocument/2006/relationships/slideLayout" Target="/ppt/slideLayouts/slideLayout3.xml" Id="R29167203ddb34245" /><Relationship Type="http://schemas.openxmlformats.org/officeDocument/2006/relationships/slideLayout" Target="/ppt/slideLayouts/slideLayout4.xml" Id="Ref7427d5559f43de" /><Relationship Type="http://schemas.openxmlformats.org/officeDocument/2006/relationships/slideLayout" Target="/ppt/slideLayouts/slideLayout5.xml" Id="R14831ae2a5ca45ad" /><Relationship Type="http://schemas.openxmlformats.org/officeDocument/2006/relationships/slideLayout" Target="/ppt/slideLayouts/slideLayout6.xml" Id="R020de5436bfc44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291f88c7b44b91"/>
    <p:sldLayoutId xmlns:r="http://schemas.openxmlformats.org/officeDocument/2006/relationships" id="2147483650" r:id="R0e2cb17e13a949cd"/>
    <p:sldLayoutId xmlns:r="http://schemas.openxmlformats.org/officeDocument/2006/relationships" id="2147483651" r:id="R29167203ddb34245"/>
    <p:sldLayoutId xmlns:r="http://schemas.openxmlformats.org/officeDocument/2006/relationships" id="2147483652" r:id="Ref7427d5559f43de"/>
    <p:sldLayoutId xmlns:r="http://schemas.openxmlformats.org/officeDocument/2006/relationships" id="2147483653" r:id="R14831ae2a5ca45ad"/>
    <p:sldLayoutId xmlns:r="http://schemas.openxmlformats.org/officeDocument/2006/relationships" id="2147483654" r:id="R020de5436bfc44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8d2f46c8f5485e" /><Relationship Type="http://schemas.openxmlformats.org/officeDocument/2006/relationships/notesSlide" Target="/ppt/notesSlides/notesSlide1.xml" Id="R15c19f9f20f343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18be551d0e426b" /><Relationship Type="http://schemas.openxmlformats.org/officeDocument/2006/relationships/notesSlide" Target="/ppt/notesSlides/notesSlide2.xml" Id="R4d37ff27294c4c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f1cefd581542ad" /><Relationship Type="http://schemas.openxmlformats.org/officeDocument/2006/relationships/notesSlide" Target="/ppt/notesSlides/notesSlide3.xml" Id="R5c5252f41a6a43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0d92adbcc14a35" /><Relationship Type="http://schemas.openxmlformats.org/officeDocument/2006/relationships/notesSlide" Target="/ppt/notesSlides/notesSlide4.xml" Id="R4feefcde1b0949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5617347fee4ab9" /><Relationship Type="http://schemas.openxmlformats.org/officeDocument/2006/relationships/notesSlide" Target="/ppt/notesSlides/notesSlide5.xml" Id="R0788d801f4524f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6535a62d464301" /><Relationship Type="http://schemas.openxmlformats.org/officeDocument/2006/relationships/notesSlide" Target="/ppt/notesSlides/notesSlide6.xml" Id="Rb0724996e21d47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82a57e24b04b71" /><Relationship Type="http://schemas.openxmlformats.org/officeDocument/2006/relationships/notesSlide" Target="/ppt/notesSlides/notesSlide7.xml" Id="R1bf139b851fe49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E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06001-E079-49F5-9150-5C4DF84E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A9B8FF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A9B8FF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A9B8FF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A9B8FF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A9B8FF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A9B8FF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A9B8FF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A9B8FF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A9B8FF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A9B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9B8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9B8FF"/>
                </a:solidFill>
                <a:latin typeface="Arial"/>
                <a:ea typeface="Arial"/>
                <a:cs typeface="Arial"/>
              </a:rPr>
              <a:t>TRACECASE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B5578-6F12-4D02-A52A-34C84C59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9B8F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9B8F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9B8F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9B8F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9B8F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9B8F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9B8F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9B8F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9B8F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9B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9B8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8FF"/>
                </a:solidFill>
                <a:latin typeface="Arial"/>
                <a:ea typeface="Arial"/>
                <a:cs typeface="Arial"/>
              </a:rPr>
              <a:t>01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886E6-A4A1-494E-B960-0E0155BB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TraceCase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C720C-4570-411F-9AA2-BE9CDE67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C7D0E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7D0E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7D0E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7D0E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7D0E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7D0E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7D0E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7D0E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7D0E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7D0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7D0E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7D0EF"/>
                </a:solidFill>
                <a:latin typeface="Arial"/>
                <a:ea typeface="Arial"/>
                <a:cs typeface="Arial"/>
              </a:rPr>
              <a:t>Bug Reproduction Agent   /   Developer &amp; Enterprise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9CD70-7624-40B2-BD28-08239284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0382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vague bug report is not enough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 reproduce a defect.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68BC2-801B-452A-AAFD-8B7D3781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D5DCF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D5DCF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D5DCF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D5DCF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D5DCF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D5DCF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D5DCF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D5DCF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D5DCF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D5DCF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D5DCF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5DCF4"/>
                </a:solidFill>
                <a:latin typeface="Arial"/>
                <a:ea typeface="Arial"/>
                <a:cs typeface="Arial"/>
              </a:rPr>
              <a:t>Missing steps and environment details force developers to repeat investigation 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F8FD6-4684-4F5E-9FD1-D125D999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A9B8FF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A9B8FF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A9B8FF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A9B8FF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A9B8FF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A9B8FF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A9B8FF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A9B8FF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A9B8FF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A9B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A9B8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9B8FF"/>
                </a:solidFill>
                <a:latin typeface="Arial"/>
                <a:ea typeface="Arial"/>
                <a:cs typeface="Arial"/>
              </a:rPr>
              <a:t>PS requirement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FC0B5-EDE6-496A-B79F-FC10D507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05450"/>
            <a:ext cx="828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Reproduce twice and provide recording, console logs and network evidence.</a:t>
            </a:r>
          </a:p>
        </p:txBody>
      </p:sp>
    </p:spTree>
    <p:extLst>
      <p:ext uri="{BB962C8B-B14F-4D97-AF65-F5344CB8AC3E}">
        <p14:creationId xmlns:p14="http://schemas.microsoft.com/office/powerpoint/2010/main" val="6354107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055C41-7CCF-4315-B45C-C2BC14C8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767DB"/>
                </a:solidFill>
                <a:latin typeface="Arial"/>
                <a:ea typeface="Arial"/>
                <a:cs typeface="Arial"/>
              </a:rPr>
              <a:t>TRACECASE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59987-A8F2-469E-94DA-54272BAB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581"/>
                </a:solidFill>
                <a:latin typeface="Arial"/>
                <a:ea typeface="Arial"/>
                <a:cs typeface="Arial"/>
              </a:rPr>
              <a:t>02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212CB-051B-47C6-B771-BDFB3EBD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1E38"/>
                </a:solidFill>
                <a:latin typeface="Arial"/>
                <a:ea typeface="Arial"/>
                <a:cs typeface="Arial"/>
              </a:rPr>
              <a:t>The 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B056C-7B4B-4874-A0BD-2CEA1DAE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581"/>
                </a:solidFill>
                <a:latin typeface="Arial"/>
                <a:ea typeface="Arial"/>
                <a:cs typeface="Arial"/>
              </a:rPr>
              <a:t>A reviewed browser investigation with a traceable developer handoff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5520D-F9F3-4CB7-ADA9-CA85656D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767DB"/>
                </a:solidFill>
                <a:latin typeface="Arial"/>
                <a:ea typeface="Arial"/>
                <a:cs typeface="Arial"/>
              </a:rPr>
              <a:t>Natural-language intake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85ABF-5173-4DEF-BE9A-8ADDDB48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4857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Select a target and describe the symptom.</a:t>
            </a:r>
          </a:p>
          <a:p xmlns:a="http://schemas.openxmlformats.org/drawingml/2006/main">
            <a: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Optional context helps, but users do not need to write selectors.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5D3557-F109-49EC-8ACB-42C8C302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3367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767DB"/>
                </a:solidFill>
                <a:latin typeface="Arial"/>
                <a:ea typeface="Arial"/>
                <a:cs typeface="Arial"/>
              </a:rPr>
              <a:t>Human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C284D-13C3-4C15-84C5-3F329DAE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38500"/>
            <a:ext cx="4857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Review the proposed steps before execution.</a:t>
            </a:r>
          </a:p>
          <a:p xmlns:a="http://schemas.openxmlformats.org/drawingml/2006/main">
            <a: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Destructive actions require an authorized sandbox.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20626-5B33-48F0-A0D5-4F33821B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767DB"/>
                </a:solidFill>
                <a:latin typeface="Arial"/>
                <a:ea typeface="Arial"/>
                <a:cs typeface="Arial"/>
              </a:rPr>
              <a:t>Browser observations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E3D35B-F643-4745-ABD2-9CA6DA7E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4857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Playwright performs the approved actions.</a:t>
            </a:r>
          </a:p>
          <a:p xmlns:a="http://schemas.openxmlformats.org/drawingml/2006/main">
            <a: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Two attempts compare behavior under a restored baseline.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011ED5-F4E9-4F0F-BDB2-A5B30732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7677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767DB"/>
                </a:solidFill>
                <a:latin typeface="Arial"/>
                <a:ea typeface="Arial"/>
                <a:cs typeface="Arial"/>
              </a:rPr>
              <a:t>Results and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58DE78-158C-4F27-B2BB-FB992492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81600"/>
            <a:ext cx="4857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Inspect actions, verdict rationale and evidence availability.</a:t>
            </a:r>
          </a:p>
          <a:p xmlns:a="http://schemas.openxmlformats.org/drawingml/2006/main">
            <a: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Export the investigation as PDF or JSON.</a:t>
            </a:r>
          </a:p>
        </p:txBody>
      </p:sp>
    </p:spTree>
    <p:extLst>
      <p:ext uri="{BB962C8B-B14F-4D97-AF65-F5344CB8AC3E}">
        <p14:creationId xmlns:p14="http://schemas.microsoft.com/office/powerpoint/2010/main" val="13553092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26527B-77E4-4744-B815-8B2B5444DE95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10077450" y="3857625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7DB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1BE9C5-9A60-4182-9ECD-A4F77D1BB5A7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2038350" y="3857625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7DB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787BFE-9E32-423D-B9EE-2D44B762246E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486650" y="3309938"/>
            <a:ext cx="1162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7DB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BD248E-E559-417C-87CC-14334A11429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67100" y="3309938"/>
            <a:ext cx="1162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7DB"/>
            </a:solidFill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089B4A-BE49-4E20-8376-01465932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767DB"/>
                </a:solidFill>
                <a:latin typeface="Arial"/>
                <a:ea typeface="Arial"/>
                <a:cs typeface="Arial"/>
              </a:rPr>
              <a:t>TRACECASE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74A60-7A66-43A0-9145-79F01487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581"/>
                </a:solidFill>
                <a:latin typeface="Arial"/>
                <a:ea typeface="Arial"/>
                <a:cs typeface="Arial"/>
              </a:rPr>
              <a:t>03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20DA1-7A49-4CC7-A02A-07874008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1E38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0B619-CA54-4B23-B61E-F5EAD477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581"/>
                </a:solidFill>
                <a:latin typeface="Arial"/>
                <a:ea typeface="Arial"/>
                <a:cs typeface="Arial"/>
              </a:rPr>
              <a:t>Separate Render services connect through durable workflow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0579E-919F-496D-8D1A-B343BAD1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857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CCD4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F9949-7BDC-44F5-B3BC-F9727445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765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67DB"/>
                </a:solidFill>
                <a:latin typeface="Arial"/>
                <a:ea typeface="Arial"/>
                <a:cs typeface="Arial"/>
              </a:rPr>
              <a:t>Web UI +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33828-F5C0-4F94-A3CC-E6D05AB3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57550"/>
            <a:ext cx="2571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Next.js / React / TypeScript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779054-5123-46C4-8BD9-94CE5A72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62250"/>
            <a:ext cx="2857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CCD4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ACF751-0C99-4423-B64B-0CA48898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8765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67DB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CE7AF-993A-465A-B9E6-F95E68CF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257550"/>
            <a:ext cx="2571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Drizzle / outbox / pg-boss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017941-83CC-4803-8BD5-9A0EEC2A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62250"/>
            <a:ext cx="2857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CCD4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8E9558-CB61-4821-8460-13EBC772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8765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67DB"/>
                </a:solidFill>
                <a:latin typeface="Arial"/>
                <a:ea typeface="Arial"/>
                <a:cs typeface="Arial"/>
              </a:rPr>
              <a:t>Browser worker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0ED82-7730-4E38-A52A-10ECBAA4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257550"/>
            <a:ext cx="2571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Playwright / Chromium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E484AF-DCF9-4F7D-9892-853D45AE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CCD4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C2D46C-0E15-4195-8FE6-0D594C85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8291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67DB"/>
                </a:solidFill>
                <a:latin typeface="Arial"/>
                <a:ea typeface="Arial"/>
                <a:cs typeface="Arial"/>
              </a:rPr>
              <a:t>OpenAI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214BCB-42C8-480F-9053-F8AC07AB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21017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Interpretation and planning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28D9B0-EBF4-4978-9E07-E4D90F84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714875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CCD4E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4FBD9C-C2F3-478C-9A50-10E2FF80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8291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67DB"/>
                </a:solidFill>
                <a:latin typeface="Arial"/>
                <a:ea typeface="Arial"/>
                <a:cs typeface="Arial"/>
              </a:rPr>
              <a:t>Controlled targets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5E5EE7-19F0-4F60-B93A-12B7759D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21017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Workbench and Cart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E5F38B-4E72-44E4-885C-3253B5AB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529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767DB"/>
                </a:solidFill>
                <a:latin typeface="Arial"/>
                <a:ea typeface="Arial"/>
                <a:cs typeface="Arial"/>
              </a:rPr>
              <a:t>Evidence storage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E0A060-B219-42D5-B7ED-314F1D06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200650"/>
            <a:ext cx="3143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Shared artifact storage connects</a:t>
            </a:r>
          </a:p>
          <a:p xmlns:a="http://schemas.openxmlformats.org/drawingml/2006/main">
            <a:pPr>
              <a:defRPr sz="165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worker capture to API delivery.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72E1C8-7F9B-43DF-B644-E259B873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81"/>
                </a:solidFill>
                <a:latin typeface="Arial"/>
                <a:ea typeface="Arial"/>
                <a:cs typeface="Arial"/>
              </a:rPr>
              <a:t>Approval, tool validation and deterministic verification constrain AI proposals.</a:t>
            </a:r>
          </a:p>
        </p:txBody>
      </p:sp>
    </p:spTree>
    <p:extLst>
      <p:ext uri="{BB962C8B-B14F-4D97-AF65-F5344CB8AC3E}">
        <p14:creationId xmlns:p14="http://schemas.microsoft.com/office/powerpoint/2010/main" val="14524754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4C0C7B-7F61-42DC-9BB2-40540E1750F9}"/>
              </a:ext>
            </a:extLst>
          </p:cNvPr>
          <p:cNvCxnSpPr>
            <a:stCxn xmlns:a="http://schemas.openxmlformats.org/drawingml/2006/main" id="19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3467100" y="52768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7DB"/>
            </a:solidFill>
            <a:tailEnd type="triangle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0489D-0CBB-43E2-BD7E-7DB60E5BEEB9}"/>
              </a:ext>
            </a:extLst>
          </p:cNvPr>
          <p:cNvCxnSpPr>
            <a:stCxn xmlns:a="http://schemas.openxmlformats.org/drawingml/2006/main" id="22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7467600" y="5276850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7DB"/>
            </a:solidFill>
            <a:tailEnd type="triangle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D99F69-AD2E-4AB5-8FBE-BF188D2A0EBC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0077450" y="3829050"/>
            <a:ext cx="0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7DB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3B0FFD-3745-4E57-93D7-9AF8B29C55D1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086600" y="3314700"/>
            <a:ext cx="1562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7DB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9889BB-E9B7-4D7C-87F1-2547AC93C87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86100" y="331470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67DB"/>
            </a:solidFill>
            <a:tailEnd type="triangle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9B125B-AEFA-4B83-81C6-C71029A1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767DB"/>
                </a:solidFill>
                <a:latin typeface="Arial"/>
                <a:ea typeface="Arial"/>
                <a:cs typeface="Arial"/>
              </a:rPr>
              <a:t>TRACECASE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46E89-3138-4502-B5E1-B082391B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581"/>
                </a:solidFill>
                <a:latin typeface="Arial"/>
                <a:ea typeface="Arial"/>
                <a:cs typeface="Arial"/>
              </a:rPr>
              <a:t>04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D0427-A488-4E95-8FA3-D6935984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1E38"/>
                </a:solidFill>
                <a:latin typeface="Arial"/>
                <a:ea typeface="Arial"/>
                <a:cs typeface="Arial"/>
              </a:rPr>
              <a:t>Investigation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FB58A-54F7-4948-8999-5C7B9C41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581"/>
                </a:solidFill>
                <a:latin typeface="Arial"/>
                <a:ea typeface="Arial"/>
                <a:cs typeface="Arial"/>
              </a:rPr>
              <a:t>The user reviews the plan before the worker takes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3B7FD-3FEE-4715-868B-C9072C2E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CCD4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E484B-B40D-42E9-9774-6DBDBC67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146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67DB"/>
                </a:solidFill>
                <a:latin typeface="Arial"/>
                <a:ea typeface="Arial"/>
                <a:cs typeface="Arial"/>
              </a:rPr>
              <a:t>01 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3DFCB-F416-427C-8FE2-F953D58D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956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Target + symptom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184E1-603F-4204-B809-42929F20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00350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CCD4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3417F3-1CB6-4269-8B66-253A2761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914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67DB"/>
                </a:solidFill>
                <a:latin typeface="Arial"/>
                <a:ea typeface="Arial"/>
                <a:cs typeface="Arial"/>
              </a:rPr>
              <a:t>02  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6B3AF-D4E9-4DA2-A4D7-E8278D4A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2956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AI proposal +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82CC4-8441-41AC-A302-96EE19A5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0350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CCD4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18127C-69C6-4516-8F4F-0A1FAF43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914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67DB"/>
                </a:solidFill>
                <a:latin typeface="Arial"/>
                <a:ea typeface="Arial"/>
                <a:cs typeface="Arial"/>
              </a:rPr>
              <a:t>03  Approve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2B3E0F-60E4-4ABD-BDA1-8E6C0A3D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2956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User reviews scope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CA135C-7D78-4446-A669-5088B11F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CCD4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B80751-7292-4732-90EC-02D020A0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8768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67DB"/>
                </a:solidFill>
                <a:latin typeface="Arial"/>
                <a:ea typeface="Arial"/>
                <a:cs typeface="Arial"/>
              </a:rPr>
              <a:t>06  Report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E47316-A880-4B19-81E3-680A9DB6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2578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Verdict + available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2A4D7D-A512-43B3-92CF-84A5B9C7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62500"/>
            <a:ext cx="3238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CCD4E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00C446-0945-4024-896D-0DC61C57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8768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67DB"/>
                </a:solidFill>
                <a:latin typeface="Arial"/>
                <a:ea typeface="Arial"/>
                <a:cs typeface="Arial"/>
              </a:rPr>
              <a:t>05  Reset + rerun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F30C15-4677-4569-A3A3-A15F48A6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25780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Verify baseline, then attempt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A9CEDF-E5B8-43AF-ACED-5F81D181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762500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CCD4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D651A5-8C84-4A69-832C-E15A781C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8768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767DB"/>
                </a:solidFill>
                <a:latin typeface="Arial"/>
                <a:ea typeface="Arial"/>
                <a:cs typeface="Arial"/>
              </a:rPr>
              <a:t>04  Execute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5819F5-1F1A-4FC4-A787-428FED2B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2578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Attempt 1 + observations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E38F0F-E777-4D02-A023-55008BB0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581"/>
                </a:solidFill>
                <a:latin typeface="Arial"/>
                <a:ea typeface="Arial"/>
                <a:cs typeface="Arial"/>
              </a:rPr>
              <a:t>Clarification resolves essential ambiguity. Errors and missing evidence remain visible.</a:t>
            </a:r>
          </a:p>
        </p:txBody>
      </p:sp>
    </p:spTree>
    <p:extLst>
      <p:ext uri="{BB962C8B-B14F-4D97-AF65-F5344CB8AC3E}">
        <p14:creationId xmlns:p14="http://schemas.microsoft.com/office/powerpoint/2010/main" val="2407931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8BEE79-B77A-4EE4-A2D9-F52FA5CE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767DB"/>
                </a:solidFill>
                <a:latin typeface="Arial"/>
                <a:ea typeface="Arial"/>
                <a:cs typeface="Arial"/>
              </a:rPr>
              <a:t>TRACECASE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7E1C8-80DE-4FAE-9D6D-477AC218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581"/>
                </a:solidFill>
                <a:latin typeface="Arial"/>
                <a:ea typeface="Arial"/>
                <a:cs typeface="Arial"/>
              </a:rPr>
              <a:t>05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3C0D2-79BB-4BDB-9E16-E0E29BBE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1E38"/>
                </a:solidFill>
                <a:latin typeface="Arial"/>
                <a:ea typeface="Arial"/>
                <a:cs typeface="Arial"/>
              </a:rPr>
              <a:t>Verification methodology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AADC3-F5B8-43B1-B594-224E2F6C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581"/>
                </a:solidFill>
                <a:latin typeface="Arial"/>
                <a:ea typeface="Arial"/>
                <a:cs typeface="Arial"/>
              </a:rPr>
              <a:t>Four official acceptance scenarios define the demonstration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0EF08F-9D3A-4493-B0BC-795D6890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767DB"/>
                </a:solidFill>
                <a:latin typeface="Arial"/>
                <a:ea typeface="Arial"/>
                <a:cs typeface="Arial"/>
              </a:rPr>
              <a:t>TC1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49997-1E42-4F14-BE4D-6D74708F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670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1E38"/>
                </a:solidFill>
                <a:latin typeface="Arial"/>
                <a:ea typeface="Arial"/>
                <a:cs typeface="Arial"/>
              </a:rPr>
              <a:t>Reproduced twice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A4CF3-7D02-4F78-A692-53F4828A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6629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Matching observed failures, verified reset and recording / console / network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2E9D8-1425-4192-8CE5-4E7AA51E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767DB"/>
                </a:solidFill>
                <a:latin typeface="Arial"/>
                <a:ea typeface="Arial"/>
                <a:cs typeface="Arial"/>
              </a:rPr>
              <a:t>TC2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E99364-4595-4BF4-9D00-9283C8C3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290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1E38"/>
                </a:solidFill>
                <a:latin typeface="Arial"/>
                <a:ea typeface="Arial"/>
                <a:cs typeface="Arial"/>
              </a:rPr>
              <a:t>Cannot reproduce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792FC-5F50-4C9F-89D3-FB9942EE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6629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Valid attempted steps and environment, with an honest Not Reproduced outcome.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5AE82-B749-47A8-B454-1A3EF816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767DB"/>
                </a:solidFill>
                <a:latin typeface="Arial"/>
                <a:ea typeface="Arial"/>
                <a:cs typeface="Arial"/>
              </a:rPr>
              <a:t>TC3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967D88-5DFF-49B9-9383-77F0B22B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1E38"/>
                </a:solidFill>
                <a:latin typeface="Arial"/>
                <a:ea typeface="Arial"/>
                <a:cs typeface="Arial"/>
              </a:rPr>
              <a:t>Destructive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C52FD6-E780-4582-8201-E802900F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91000"/>
            <a:ext cx="6629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Deletion stays within a verified sandbox and requires explicit approval.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FA86D0-C774-436A-8968-9AA49C21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767DB"/>
                </a:solidFill>
                <a:latin typeface="Arial"/>
                <a:ea typeface="Arial"/>
                <a:cs typeface="Arial"/>
              </a:rPr>
              <a:t>TC4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0E43DE-2209-4E38-A941-BD9DF7B6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1E38"/>
                </a:solidFill>
                <a:latin typeface="Arial"/>
                <a:ea typeface="Arial"/>
                <a:cs typeface="Arial"/>
              </a:rPr>
              <a:t>Token redaction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460263-7D1C-4DF1-AE05-B6CB86D3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53000"/>
            <a:ext cx="6629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A fake token canary is absent from shared logs, traces and exported reports.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6569FF-8534-457C-A9D0-1C85CAEB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3A3A7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3A3A7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3A3A7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3A3A7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3A3A7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3A3A7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3A3A7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3A3A7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3A3A7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3A3A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3A3A7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A3A7B"/>
                </a:solidFill>
                <a:latin typeface="Arial"/>
                <a:ea typeface="Arial"/>
                <a:cs typeface="Arial"/>
              </a:rPr>
              <a:t>Release gate: verify all four in the live browser. This deck does not assert a four-case pass.</a:t>
            </a:r>
          </a:p>
        </p:txBody>
      </p:sp>
    </p:spTree>
    <p:extLst>
      <p:ext uri="{BB962C8B-B14F-4D97-AF65-F5344CB8AC3E}">
        <p14:creationId xmlns:p14="http://schemas.microsoft.com/office/powerpoint/2010/main" val="15650985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5190D-4054-4DC8-96DC-99BFF452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767DB"/>
                </a:solidFill>
                <a:latin typeface="Arial"/>
                <a:ea typeface="Arial"/>
                <a:cs typeface="Arial"/>
              </a:rPr>
              <a:t>TRACECASE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B35A76-29E7-4121-8A39-BA9D0FC7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581"/>
                </a:solidFill>
                <a:latin typeface="Arial"/>
                <a:ea typeface="Arial"/>
                <a:cs typeface="Arial"/>
              </a:rPr>
              <a:t>06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45305-6C24-4614-A683-3C159F3C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1E38"/>
                </a:solidFill>
                <a:latin typeface="Arial"/>
                <a:ea typeface="Arial"/>
                <a:cs typeface="Arial"/>
              </a:rPr>
              <a:t>Impact and scalability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B4539-9BDF-468A-8B5E-45E048AE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581"/>
                </a:solidFill>
                <a:latin typeface="Arial"/>
                <a:ea typeface="Arial"/>
                <a:cs typeface="Arial"/>
              </a:rPr>
              <a:t>Designed to reduce investigation effort without hiding uncertainty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D804AB-3041-481F-AEF0-0AC36FFA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767DB"/>
                </a:solidFill>
                <a:latin typeface="Arial"/>
                <a:ea typeface="Arial"/>
                <a:cs typeface="Arial"/>
              </a:rPr>
              <a:t>Developer value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E2646-3873-43CA-AEF8-8DC5E8D8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Turn an informal report into reviewable steps and observed results.</a:t>
            </a:r>
          </a:p>
          <a:p xmlns:a="http://schemas.openxmlformats.org/drawingml/2006/main">
            <a: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Keep the reproduction context with the handoff.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74F7C-C999-4BAC-99BC-75B6371A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670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767DB"/>
                </a:solidFill>
                <a:latin typeface="Arial"/>
                <a:ea typeface="Arial"/>
                <a:cs typeface="Arial"/>
              </a:rPr>
              <a:t>Efficient AI use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94EF9-3DA8-4CF8-AC3D-313DAE57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71825"/>
            <a:ext cx="4857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Use AI for language and planning.</a:t>
            </a:r>
          </a:p>
          <a:p xmlns:a="http://schemas.openxmlformats.org/drawingml/2006/main">
            <a: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Keep authorization, arithmetic and verdict checks deterministic.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430C12-86E0-434A-9A68-6272B53C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767DB"/>
                </a:solidFill>
                <a:latin typeface="Arial"/>
                <a:ea typeface="Arial"/>
                <a:cs typeface="Arial"/>
              </a:rPr>
              <a:t>Scaling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FD2A9-FC1F-404A-A66D-1E64361A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Add workers as capacity grows.</a:t>
            </a:r>
          </a:p>
          <a:p xmlns:a="http://schemas.openxmlformats.org/drawingml/2006/main">
            <a: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Coordinate target access and isolate fixtures to avoid interference.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624CB2-C3FA-4966-81E8-31124C8F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910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767DB"/>
                </a:solidFill>
                <a:latin typeface="Arial"/>
                <a:ea typeface="Arial"/>
                <a:cs typeface="Arial"/>
              </a:rPr>
              <a:t>Next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60389-5743-4514-AE8E-4C685070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95875"/>
            <a:ext cx="4857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Measure completion rate, time to evidence and cost per investigation.</a:t>
            </a:r>
          </a:p>
          <a:p xmlns:a="http://schemas.openxmlformats.org/drawingml/2006/main">
            <a:pPr>
              <a:defRPr sz="1800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No measured improvement is claimed yet.</a:t>
            </a:r>
          </a:p>
        </p:txBody>
      </p:sp>
    </p:spTree>
    <p:extLst>
      <p:ext uri="{BB962C8B-B14F-4D97-AF65-F5344CB8AC3E}">
        <p14:creationId xmlns:p14="http://schemas.microsoft.com/office/powerpoint/2010/main" val="19096456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A5D241-A5A4-4EB9-8219-48A40FBE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767DB"/>
                </a:solidFill>
                <a:latin typeface="Arial"/>
                <a:ea typeface="Arial"/>
                <a:cs typeface="Arial"/>
              </a:rPr>
              <a:t>TRACECASE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C1304-03A4-4088-B546-6BAC2D21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581"/>
                </a:solidFill>
                <a:latin typeface="Arial"/>
                <a:ea typeface="Arial"/>
                <a:cs typeface="Arial"/>
              </a:rPr>
              <a:t>07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41C2F-FAF4-406C-8ADB-0DB3274E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1E38"/>
                </a:solidFill>
                <a:latin typeface="Arial"/>
                <a:ea typeface="Arial"/>
                <a:cs typeface="Arial"/>
              </a:rPr>
              <a:t>References and project access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46AE6-1505-4242-AF6C-D4800EDC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658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581"/>
                </a:solidFill>
                <a:latin typeface="Arial"/>
                <a:ea typeface="Arial"/>
                <a:cs typeface="Arial"/>
              </a:rPr>
              <a:t>Project sources define the requirements, architecture and safety contract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4D230-2F69-4219-8B0D-69DD1ADF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767DB"/>
                </a:solidFill>
                <a:latin typeface="Arial"/>
                <a:ea typeface="Arial"/>
                <a:cs typeface="Arial"/>
              </a:rPr>
              <a:t>Source repository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917C0-2FD8-4656-978F-3E1E30D2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https://github.com/sharancode3/TraceCase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BA8F4-8853-460E-B99E-47010AD8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767DB"/>
                </a:solidFill>
                <a:latin typeface="Arial"/>
                <a:ea typeface="Arial"/>
                <a:cs typeface="Arial"/>
              </a:rPr>
              <a:t>Requirements and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A71622-1DFA-47B2-9F91-3813A7AA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docs/prd.md</a:t>
            </a:r>
          </a:p>
          <a:p xmlns:a="http://schemas.openxmlformats.org/drawingml/2006/main">
            <a: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docs/system-architecture.md</a:t>
            </a:r>
          </a:p>
          <a:p xmlns:a="http://schemas.openxmlformats.org/drawingml/2006/main">
            <a: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docs/verification-evidence-and-safety-specification.md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B93712-DFF7-480E-BD9B-A0DB602F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4767D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767DB"/>
                </a:solidFill>
                <a:latin typeface="Arial"/>
                <a:ea typeface="Arial"/>
                <a:cs typeface="Arial"/>
              </a:rPr>
              <a:t>Implementation sources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80FAB3-472C-4C53-8F90-995B9C04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61E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E38"/>
                </a:solidFill>
                <a:latin typeface="Arial"/>
                <a:ea typeface="Arial"/>
                <a:cs typeface="Arial"/>
              </a:rPr>
              <a:t>render.yaml    package.json    worker/    src/server/</a:t>
            </a:r>
          </a:p>
        </p:txBody>
      </p:sp>
    </p:spTree>
    <p:extLst>
      <p:ext uri="{BB962C8B-B14F-4D97-AF65-F5344CB8AC3E}">
        <p14:creationId xmlns:p14="http://schemas.microsoft.com/office/powerpoint/2010/main" val="5932518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2026-10-25T13:22:50.5370000Z</dcterms:created>
  <dcterms:modified xsi:type="dcterms:W3CDTF">2026-10-25T13:22:50.5370000Z</dcterms:modified>
</coreProperties>
</file>